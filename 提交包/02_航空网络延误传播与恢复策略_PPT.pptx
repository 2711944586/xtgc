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d5f948f700402d" /><Relationship Type="http://schemas.openxmlformats.org/officeDocument/2006/relationships/extended-properties" Target="/docProps/app.xml" Id="R180fbf45b86f46e8" /><Relationship Type="http://schemas.openxmlformats.org/officeDocument/2006/relationships/officeDocument" Target="/ppt/presentation.xml" Id="R8e9493d9c94e45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e6d4ea967648fd"/>
  </p:sldMasterIdLst>
  <p:notesMasterIdLst>
    <p:notesMasterId xmlns:r="http://schemas.openxmlformats.org/officeDocument/2006/relationships" r:id="R7de0df51ce3e44a0"/>
  </p:notesMasterIdLst>
  <p:sldIdLst>
    <p:sldId xmlns:r="http://schemas.openxmlformats.org/officeDocument/2006/relationships" id="256" r:id="R6b3af8bd7d65404e"/>
    <p:sldId xmlns:r="http://schemas.openxmlformats.org/officeDocument/2006/relationships" id="257" r:id="Rcb6ba0e7ee3d44e2"/>
    <p:sldId xmlns:r="http://schemas.openxmlformats.org/officeDocument/2006/relationships" id="258" r:id="R334883c806ac4a31"/>
    <p:sldId xmlns:r="http://schemas.openxmlformats.org/officeDocument/2006/relationships" id="259" r:id="R27cc4c92d4d84cd9"/>
    <p:sldId xmlns:r="http://schemas.openxmlformats.org/officeDocument/2006/relationships" id="260" r:id="Re02737b6a64f4068"/>
    <p:sldId xmlns:r="http://schemas.openxmlformats.org/officeDocument/2006/relationships" id="261" r:id="R7ceec0da20c948cd"/>
    <p:sldId xmlns:r="http://schemas.openxmlformats.org/officeDocument/2006/relationships" id="262" r:id="R34711327e7224a82"/>
    <p:sldId xmlns:r="http://schemas.openxmlformats.org/officeDocument/2006/relationships" id="263" r:id="R63dc842d536b4596"/>
    <p:sldId xmlns:r="http://schemas.openxmlformats.org/officeDocument/2006/relationships" id="264" r:id="R61617d630ddd44a0"/>
    <p:sldId xmlns:r="http://schemas.openxmlformats.org/officeDocument/2006/relationships" id="265" r:id="R14faa37c6a0f4080"/>
    <p:sldId xmlns:r="http://schemas.openxmlformats.org/officeDocument/2006/relationships" id="266" r:id="R593da8f602054cb5"/>
    <p:sldId xmlns:r="http://schemas.openxmlformats.org/officeDocument/2006/relationships" id="267" r:id="R75528177f8ce477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0d35ede2f54adb" /><Relationship Type="http://schemas.openxmlformats.org/officeDocument/2006/relationships/slideMaster" Target="/ppt/slideMasters/slideMaster1.xml" Id="R06e6d4ea967648fd" /><Relationship Type="http://schemas.openxmlformats.org/officeDocument/2006/relationships/notesMaster" Target="/ppt/notesMasters/notesMaster1.xml" Id="R7de0df51ce3e44a0" /><Relationship Type="http://schemas.openxmlformats.org/officeDocument/2006/relationships/presProps" Target="/ppt/presProps.xml" Id="R18e9ea97567e4395" /><Relationship Type="http://schemas.openxmlformats.org/officeDocument/2006/relationships/viewProps" Target="/ppt/viewProps.xml" Id="R39c46205229d4e90" /><Relationship Type="http://schemas.openxmlformats.org/officeDocument/2006/relationships/tableStyles" Target="/ppt/tableStyles.xml" Id="R8631146c010440f3" /><Relationship Type="http://schemas.openxmlformats.org/officeDocument/2006/relationships/slide" Target="/ppt/slides/slide1.xml" Id="R6b3af8bd7d65404e" /><Relationship Type="http://schemas.openxmlformats.org/officeDocument/2006/relationships/slide" Target="/ppt/slides/slide2.xml" Id="Rcb6ba0e7ee3d44e2" /><Relationship Type="http://schemas.openxmlformats.org/officeDocument/2006/relationships/slide" Target="/ppt/slides/slide3.xml" Id="R334883c806ac4a31" /><Relationship Type="http://schemas.openxmlformats.org/officeDocument/2006/relationships/slide" Target="/ppt/slides/slide4.xml" Id="R27cc4c92d4d84cd9" /><Relationship Type="http://schemas.openxmlformats.org/officeDocument/2006/relationships/slide" Target="/ppt/slides/slide5.xml" Id="Re02737b6a64f4068" /><Relationship Type="http://schemas.openxmlformats.org/officeDocument/2006/relationships/slide" Target="/ppt/slides/slide6.xml" Id="R7ceec0da20c948cd" /><Relationship Type="http://schemas.openxmlformats.org/officeDocument/2006/relationships/slide" Target="/ppt/slides/slide7.xml" Id="R34711327e7224a82" /><Relationship Type="http://schemas.openxmlformats.org/officeDocument/2006/relationships/slide" Target="/ppt/slides/slide8.xml" Id="R63dc842d536b4596" /><Relationship Type="http://schemas.openxmlformats.org/officeDocument/2006/relationships/slide" Target="/ppt/slides/slide9.xml" Id="R61617d630ddd44a0" /><Relationship Type="http://schemas.openxmlformats.org/officeDocument/2006/relationships/slide" Target="/ppt/slides/slide10.xml" Id="R14faa37c6a0f4080" /><Relationship Type="http://schemas.openxmlformats.org/officeDocument/2006/relationships/slide" Target="/ppt/slides/slide11.xml" Id="R593da8f602054cb5" /><Relationship Type="http://schemas.openxmlformats.org/officeDocument/2006/relationships/slide" Target="/ppt/slides/slide12.xml" Id="R75528177f8ce47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3c78fc717748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df707538a3416d" /><Relationship Type="http://schemas.openxmlformats.org/officeDocument/2006/relationships/notesMaster" Target="/ppt/notesMasters/notesMaster1.xml" Id="R565588ae58a348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ffc25653774179" /><Relationship Type="http://schemas.openxmlformats.org/officeDocument/2006/relationships/notesMaster" Target="/ppt/notesMasters/notesMaster1.xml" Id="R22e690b7c0754c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e571f7e76d4a8a" /><Relationship Type="http://schemas.openxmlformats.org/officeDocument/2006/relationships/notesMaster" Target="/ppt/notesMasters/notesMaster1.xml" Id="R4d67da4c814441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81eb9bb3a64d89" /><Relationship Type="http://schemas.openxmlformats.org/officeDocument/2006/relationships/notesMaster" Target="/ppt/notesMasters/notesMaster1.xml" Id="R497e390d493a40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e34adb2b564df8" /><Relationship Type="http://schemas.openxmlformats.org/officeDocument/2006/relationships/notesMaster" Target="/ppt/notesMasters/notesMaster1.xml" Id="R21eaaa961f5643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8a96ccd8f54d79" /><Relationship Type="http://schemas.openxmlformats.org/officeDocument/2006/relationships/notesMaster" Target="/ppt/notesMasters/notesMaster1.xml" Id="R1ec3e4d91ea04c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558ae96cee4dbd" /><Relationship Type="http://schemas.openxmlformats.org/officeDocument/2006/relationships/notesMaster" Target="/ppt/notesMasters/notesMaster1.xml" Id="Rb7bbcc7a422749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439fed51a04f84" /><Relationship Type="http://schemas.openxmlformats.org/officeDocument/2006/relationships/notesMaster" Target="/ppt/notesMasters/notesMaster1.xml" Id="R50698c3d27cb4f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19d9db972d41f1" /><Relationship Type="http://schemas.openxmlformats.org/officeDocument/2006/relationships/notesMaster" Target="/ppt/notesMasters/notesMaster1.xml" Id="R8fbd8c0ec4b54f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ce593fe54f4c9c" /><Relationship Type="http://schemas.openxmlformats.org/officeDocument/2006/relationships/notesMaster" Target="/ppt/notesMasters/notesMaster1.xml" Id="Re3aee5f8c1e14f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a8e6fb94774a7e" /><Relationship Type="http://schemas.openxmlformats.org/officeDocument/2006/relationships/notesMaster" Target="/ppt/notesMasters/notesMaster1.xml" Id="R9763755d6ece45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d86a9277024c92" /><Relationship Type="http://schemas.openxmlformats.org/officeDocument/2006/relationships/notesMaster" Target="/ppt/notesMasters/notesMaster1.xml" Id="R7e013264fb414e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3dc459e254d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b069b50ab848b8" /><Relationship Type="http://schemas.openxmlformats.org/officeDocument/2006/relationships/slideLayout" Target="/ppt/slideLayouts/slideLayout1.xml" Id="R43f75d6ed1a744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f75d6ed1a744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af4d6c2664ae9" /><Relationship Type="http://schemas.openxmlformats.org/officeDocument/2006/relationships/image" Target="/ppt/media/image.png" Id="Rfdf0dcb9b65e4043" /><Relationship Type="http://schemas.openxmlformats.org/officeDocument/2006/relationships/notesSlide" Target="/ppt/notesSlides/notesSlide1.xml" Id="Rc812099b3b9245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a7cb67a364147" /><Relationship Type="http://schemas.openxmlformats.org/officeDocument/2006/relationships/notesSlide" Target="/ppt/notesSlides/notesSlide2.xml" Id="R61614077161245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2b7dcdb5146c1" /><Relationship Type="http://schemas.openxmlformats.org/officeDocument/2006/relationships/notesSlide" Target="/ppt/notesSlides/notesSlide3.xml" Id="Redf27102e1f240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b1182f2034f21" /><Relationship Type="http://schemas.openxmlformats.org/officeDocument/2006/relationships/notesSlide" Target="/ppt/notesSlides/notesSlide4.xml" Id="Rfd8815d6d51a45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76b585da94bdb" /><Relationship Type="http://schemas.openxmlformats.org/officeDocument/2006/relationships/image" Target="/ppt/media/image2.png" Id="Ra05164f5977e4afa" /><Relationship Type="http://schemas.openxmlformats.org/officeDocument/2006/relationships/image" Target="/ppt/media/image3.png" Id="R058791170dc44051" /><Relationship Type="http://schemas.openxmlformats.org/officeDocument/2006/relationships/image" Target="/ppt/media/image4.png" Id="R67a742bdcd3f402c" /><Relationship Type="http://schemas.openxmlformats.org/officeDocument/2006/relationships/notesSlide" Target="/ppt/notesSlides/notesSlide5.xml" Id="Rc3c7fbd934c640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4bf92d49f4ece" /><Relationship Type="http://schemas.openxmlformats.org/officeDocument/2006/relationships/image" Target="/ppt/media/image5.png" Id="R8f7d1e0bd0984a19" /><Relationship Type="http://schemas.openxmlformats.org/officeDocument/2006/relationships/image" Target="/ppt/media/image6.png" Id="R88b2fce84a2e4d38" /><Relationship Type="http://schemas.openxmlformats.org/officeDocument/2006/relationships/notesSlide" Target="/ppt/notesSlides/notesSlide6.xml" Id="R7af46a0002b849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4802847484a43" /><Relationship Type="http://schemas.openxmlformats.org/officeDocument/2006/relationships/image" Target="/ppt/media/image7.png" Id="R5ecc14ac0dcb43e7" /><Relationship Type="http://schemas.openxmlformats.org/officeDocument/2006/relationships/image" Target="/ppt/media/image8.png" Id="R592253401ffe463c" /><Relationship Type="http://schemas.openxmlformats.org/officeDocument/2006/relationships/notesSlide" Target="/ppt/notesSlides/notesSlide7.xml" Id="R59c27aff057645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9858be0524123" /><Relationship Type="http://schemas.openxmlformats.org/officeDocument/2006/relationships/image" Target="/ppt/media/image9.png" Id="R14c7c129221b4c44" /><Relationship Type="http://schemas.openxmlformats.org/officeDocument/2006/relationships/image" Target="/ppt/media/image10.png" Id="Rba4d5b2e8a804e21" /><Relationship Type="http://schemas.openxmlformats.org/officeDocument/2006/relationships/notesSlide" Target="/ppt/notesSlides/notesSlide8.xml" Id="Rb5d01613a7f64a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47e3f78124455" /><Relationship Type="http://schemas.openxmlformats.org/officeDocument/2006/relationships/image" Target="/ppt/media/image11.png" Id="Readba00d959b4c35" /><Relationship Type="http://schemas.openxmlformats.org/officeDocument/2006/relationships/image" Target="/ppt/media/image12.png" Id="R789c54b9d8c447a6" /><Relationship Type="http://schemas.openxmlformats.org/officeDocument/2006/relationships/notesSlide" Target="/ppt/notesSlides/notesSlide9.xml" Id="R9ea260da706b45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803fe537146d2" /><Relationship Type="http://schemas.openxmlformats.org/officeDocument/2006/relationships/image" Target="/ppt/media/image13.png" Id="Rcdc06c075b224893" /><Relationship Type="http://schemas.openxmlformats.org/officeDocument/2006/relationships/image" Target="/ppt/media/image14.png" Id="Rc497ef1feb824695" /><Relationship Type="http://schemas.openxmlformats.org/officeDocument/2006/relationships/notesSlide" Target="/ppt/notesSlides/notesSlide10.xml" Id="R24a8cefcb6f445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390214ea44a9f" /><Relationship Type="http://schemas.openxmlformats.org/officeDocument/2006/relationships/image" Target="/ppt/media/image15.png" Id="Rf83425b6e7bd4c23" /><Relationship Type="http://schemas.openxmlformats.org/officeDocument/2006/relationships/image" Target="/ppt/media/image16.png" Id="R2eb85dea39da40d4" /><Relationship Type="http://schemas.openxmlformats.org/officeDocument/2006/relationships/notesSlide" Target="/ppt/notesSlides/notesSlide11.xml" Id="Re5180f5413ab46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3f8da95174cd2" /><Relationship Type="http://schemas.openxmlformats.org/officeDocument/2006/relationships/notesSlide" Target="/ppt/notesSlides/notesSlide12.xml" Id="R19fe0a0a8dc24d1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C25646-9EB5-4347-A00E-7573A040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24C11-2779-48E6-A536-5B02656B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9592A-E733-4021-95E8-799629A6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一个枢纽机场的延误，可能在数小时内扩散为全网问题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5BF50-70B4-4FF9-8DD6-F9891F11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0dcb9b65e4043"/>
          <a:stretch xmlns:a="http://schemas.openxmlformats.org/drawingml/2006/main"/>
        </p:blipFill>
        <p:spPr>
          <a:xfrm xmlns:a="http://schemas.openxmlformats.org/drawingml/2006/main">
            <a:off x="6191250" y="1402142"/>
            <a:ext cx="4953000" cy="36917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44C8D-E0A7-40FE-A1BB-0EEBA8D6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857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面向突发扰动的航空网络延误传播识别与恢复策略决策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27B98-B792-44F6-86E2-3F2BB075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76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从 BTS 真实数据出发，把延误预测、机场网络、动态仿真和恢复策略评价连成系统工程闭环。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D78F7-9676-454D-8CBF-1B360A4F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476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6FDA2-E99A-4FE6-9451-7C87C274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公开数据 → 风险识别 → 网络传播 → 策略恢复 → 综合决策 → Web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510AB9-E1A8-445A-BAD1-6BDACDF7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4A1FB-B346-4239-AF63-60F68FC5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05921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0AAAD2-2B12-4AB9-A71D-28A7D863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504E2-8A98-4CEB-A8D5-D42204D2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FE788B-8995-4C29-B54E-1791CC9A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单航班预测不能回答恢复决策问题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7A81F-432B-4800-9112-5879BD3A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98080-2AD7-4275-9E87-C3C83483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27722-411B-4B04-ABAB-22C5B91E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240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EF48D-E603-46B8-9595-7114F7D5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90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rPr>
              <a:t>传统视角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6FD3F-3BAC-4B68-8108-20E7744B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4000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判断某一航班是否延误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输出：概率或标签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局限：无法说明延误会传到哪里，也无法分配恢复资源。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2FA2B-83A4-4DEE-A8D9-D12C7AEE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790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本项目视角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8868C-078C-475A-A92A-03104A0C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400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识别网络传播与恢复策略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输出：关键机场、传播轨迹、策略排名和适用边界。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6E186-AF37-46C0-80C3-0648BB79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核心问题：传播路径、优先节点、有限预算下的恢复方案，以及不同偏好下推荐是否稳定。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97735-6318-468A-9FE1-F7D6EAF8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897E13-EA54-46D9-AA88-2FE53953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231556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017D83-0948-4DEF-8B57-70CDE7A7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31F07-1871-4128-8F9F-7C78A10D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02906-542A-4C66-9D09-707BA6E7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系统边界把多主体目标冲突显性化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FFA34-1C4B-4F8D-8731-01C7AAA3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9CC17-1090-4DC5-BDA5-42C7F051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363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BD114-3001-4A59-8738-C80E9F4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外部扰动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40C6C-6056-4F2F-8CDB-3FBED6A0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天气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空域限制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高峰需求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枢纽容量下降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C3934-6EEE-46D8-ADA6-A28C97BF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26695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2D55B-E62F-4130-8AA7-5E772372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1450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航空网络运行系统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6B101-E1DA-44C4-8615-5A669C84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479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机场 - 航线 - 航班 - 航司 - 恢复资源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B7693-037B-42FC-B3BF-296FB71E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C9CA7-48E4-4F53-94EE-A4FEF51D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管理输出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F84A69-DE37-48CB-A0D2-9BBF93F6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延误水平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恢复时间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传播范围</a:t>
            </a:r>
          </a:p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资源成本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77744-4640-4B1D-87FD-F7299B3E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1885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983C7-FACE-495A-8C6D-EB968FAC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运行效率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4020A2-D76E-45B8-A46D-1FCE9F60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累计延误 / 平均延误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E281A8-F7FF-4279-8D27-A7B4FAB0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24250"/>
            <a:ext cx="1885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B7AD9-BC74-4DDA-9B89-A16C26D5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95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rPr>
              <a:t>网络韧性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F9C185-B395-4759-B310-26891231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962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最低性能 / 恢复时间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473764-8E3D-41DE-B1E5-6B5706AB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24250"/>
            <a:ext cx="1885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BF5C1-2666-4187-9659-9A78811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95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航班影响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C28E6-2786-4BED-A364-4D8E368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62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延误航班比例 / 取消代理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B76E29-8B66-4321-B0F9-3187CC45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24250"/>
            <a:ext cx="1885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419DEB-C1FC-4A33-A965-6B51E44E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95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经济性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3BF7F5-6442-4335-A0D2-0B7366F7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62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相对成本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B5D330-71DB-4BBD-96AB-EE0736EF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24250"/>
            <a:ext cx="1885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BCD8D1-91FF-45F9-A60E-A8F61EB9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957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可实施性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4A30C6-F650-4A3B-875A-11F2B016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62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复杂度 / 参数透明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9D4BDB-1B1A-4220-A021-EB2BA209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10287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43658B-11A0-497D-AE42-FEE1A6FC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196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利益相关者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30F72E-10AD-4751-85A8-12EBF893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196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乘客希望少延误，航司关注成本和轮转，机场关注容量恢复，监管者关注安全与公平。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FC0229-C78B-47B1-A28A-B9336EEB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962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本项目将决策主体抽象为机场-航空公司联合运行控制中心，用统一情景和预算口径比较策略。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B45FB1-3FE5-4A0F-ADC9-2B3429F1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803A64-43BF-4CB8-B866-54C99470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223461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32A951-85ED-4269-BB0C-73919C9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C9A0A-E7AB-42D9-A3D4-2A2C124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CF8DE-862E-4F14-ABE2-C52096C1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霍尔主线与切克兰德补充共同组织方法链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6A11E-503E-4469-8CB3-AAEF2C41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C98DE-DB1F-4AEB-8C6A-0BB1A553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0FCC8-2366-4AA4-ADA9-123BBD45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明确问题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75C5A-E0F4-4530-8500-A30BAD60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5BDD3-156B-4202-8A9D-0163F22F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9E8FA-A627-47C6-BBDF-CF8872FA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系统设计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62ABF-DE80-4FB5-AF3B-D9D4AD81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2DCD2-4911-449C-91E1-FBEE35F3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B502B-95D3-4184-921D-3BEF406D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方案综合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CC6A7-19ED-416C-8E07-8E0B575C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346CF-0976-45E6-9349-1DB30687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433D18-3BD7-4597-8D8E-CD451419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EA8"/>
                </a:solidFill>
                <a:latin typeface="Microsoft YaHei"/>
                <a:ea typeface="Microsoft YaHei"/>
                <a:cs typeface="Microsoft YaHei"/>
              </a:rPr>
              <a:t>建立模型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C12517-AD7D-4730-8870-A9D422A0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33FDCF-8AE1-4060-A557-DCEB3043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BB3E99-9E13-4226-9431-F89B2CD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方案优化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BB254-0D91-4E68-93B9-052AC441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291605-F6EE-4334-864E-A97356A9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97118-197F-4748-ADFC-7BDE754C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评价决策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DB5C1-04C0-4F29-A313-7267C793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7170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8B3A"/>
          </a:solidFill>
          <a:ln xmlns:a="http://schemas.openxmlformats.org/drawingml/2006/main" w="0">
            <a:solidFill>
              <a:srgbClr val="E58B3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FB24B-147B-4BF2-BEBA-420D98D1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809750"/>
            <a:ext cx="127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AEC51-496A-4081-A615-C2770A01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574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实施反馈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3655F3-0E02-4FCC-B962-C2E9CD67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933"/>
                </a:solidFill>
                <a:latin typeface="Microsoft YaHei"/>
                <a:ea typeface="Microsoft YaHei"/>
                <a:cs typeface="Microsoft YaHei"/>
              </a:rPr>
              <a:t>结构模型：鱼骨图 + ISM；数据模型：延误预测 + SHAP；网络模型：中心性 + 关键性指数；动态模型：状态空间传播；评价决策：AHP、熵权、TOPSIS、模糊评价和风险决策。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2BCBC7-6E64-4E65-B92C-74F6F8D4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切克兰德软系统思想用于处理“最低成本”“最快恢复”“公平可实施”等价值冲突，避免宣称唯一绝对最优。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701355-1EFF-4049-A858-EFA3C960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6E6413-3AF3-4DB9-97D5-93F3DCCC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21308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2656D1-6676-4D72-9940-1FEE374B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10BFB-2205-423D-8095-625874E1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DC359-ED70-4FE4-B95F-2393973F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BTS 数据显示延误具有时间异质性与节点差异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E6DA6-DDB1-4895-A91C-3F01DC5E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164f5977e4afa"/>
          <a:stretch xmlns:a="http://schemas.openxmlformats.org/drawingml/2006/main"/>
        </p:blipFill>
        <p:spPr>
          <a:xfrm xmlns:a="http://schemas.openxmlformats.org/drawingml/2006/main">
            <a:off x="552450" y="1976254"/>
            <a:ext cx="3476625" cy="1657717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791170dc44051"/>
          <a:stretch xmlns:a="http://schemas.openxmlformats.org/drawingml/2006/main"/>
        </p:blipFill>
        <p:spPr>
          <a:xfrm xmlns:a="http://schemas.openxmlformats.org/drawingml/2006/main">
            <a:off x="4343400" y="1796621"/>
            <a:ext cx="3333750" cy="2016982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742bdcd3f402c"/>
          <a:stretch xmlns:a="http://schemas.openxmlformats.org/drawingml/2006/main"/>
        </p:blipFill>
        <p:spPr>
          <a:xfrm xmlns:a="http://schemas.openxmlformats.org/drawingml/2006/main">
            <a:off x="8001000" y="1623397"/>
            <a:ext cx="3429000" cy="2363431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A7E8D-5918-4EB7-9D52-471F1E7C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样本：2024年1-3月，前30个机场，610,640条记录。航班量高不等于延误率最高，恢复决策需要结合网络位置和运行状态。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522E1-4300-438A-B88E-E195A3F4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A6527-D6F6-4711-B01E-9F94DA72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1314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298F30-2468-4A37-BD77-0B07F98F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728A7-816A-448D-B092-CF810731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12B2C-5BA0-472F-87B1-22E9548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根源因素通过拥堵和前序晚到传导到网络恢复问题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B1923-145B-4345-9A6C-D8B576A3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d1e0bd0984a19"/>
          <a:stretch xmlns:a="http://schemas.openxmlformats.org/drawingml/2006/main"/>
        </p:blipFill>
        <p:spPr>
          <a:xfrm xmlns:a="http://schemas.openxmlformats.org/drawingml/2006/main">
            <a:off x="666750" y="1709727"/>
            <a:ext cx="5810250" cy="3552846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2fce84a2e4d38"/>
          <a:stretch xmlns:a="http://schemas.openxmlformats.org/drawingml/2006/main"/>
        </p:blipFill>
        <p:spPr>
          <a:xfrm xmlns:a="http://schemas.openxmlformats.org/drawingml/2006/main">
            <a:off x="7239000" y="1619250"/>
            <a:ext cx="3333750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C1616-9ED0-40A4-A8B2-F5A7DF18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05400"/>
            <a:ext cx="4095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ISM 表达结构性解释框架，不把滞后关系和小组判断表述为严格因果。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C32D4-5422-4B70-9517-91ACD70F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F431F-53E7-4482-9B5E-AFA8DC3C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2072375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AE375D-7F01-40F0-AB25-6D4D848C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367EB-27A6-460A-A0B1-81BBDE54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120AD-9487-4485-8409-A41AD947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计划阶段模型为传播仿真提供风险输入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21231-558E-4454-932D-876FD4EB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c14ac0dcb43e7"/>
          <a:stretch xmlns:a="http://schemas.openxmlformats.org/drawingml/2006/main"/>
        </p:blipFill>
        <p:spPr>
          <a:xfrm xmlns:a="http://schemas.openxmlformats.org/drawingml/2006/main">
            <a:off x="666750" y="1595758"/>
            <a:ext cx="4762500" cy="2618733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2253401ffe463c"/>
          <a:stretch xmlns:a="http://schemas.openxmlformats.org/drawingml/2006/main"/>
        </p:blipFill>
        <p:spPr>
          <a:xfrm xmlns:a="http://schemas.openxmlformats.org/drawingml/2006/main">
            <a:off x="6209722" y="1428750"/>
            <a:ext cx="4725557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260F0-347C-4B8A-ABFB-02BA80A6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981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最佳模型：随机森林；测试 ROC-AUC 0.677，PR-AUC 0.379。禁用实际起降、实际延误和原因分解字段，降低泄漏风险。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4BB3B-8740-41AB-86A2-95C2A7F9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19357-D430-4DB7-816C-C302184A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341206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2B192D-C499-4AD9-97B5-3DEF3458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5F03A-74A6-45D4-9B0E-0C959F6C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E6B9D-FAB5-469B-8BC4-05D4BEA6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关键传播节点不是按航班量简单排序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CAE82-AF82-4778-A5E2-C9DD8FC7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7c129221b4c44"/>
          <a:stretch xmlns:a="http://schemas.openxmlformats.org/drawingml/2006/main"/>
        </p:blipFill>
        <p:spPr>
          <a:xfrm xmlns:a="http://schemas.openxmlformats.org/drawingml/2006/main">
            <a:off x="523875" y="1512121"/>
            <a:ext cx="5143500" cy="3833757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d5b2e8a804e21"/>
          <a:stretch xmlns:a="http://schemas.openxmlformats.org/drawingml/2006/main"/>
        </p:blipFill>
        <p:spPr>
          <a:xfrm xmlns:a="http://schemas.openxmlformats.org/drawingml/2006/main">
            <a:off x="6191250" y="1572848"/>
            <a:ext cx="4572000" cy="285505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1FF4F-60F9-488B-A3F3-A450BF12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5775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综合流量、介数中心性、预测风险与历史延误率后，MIA、DEN、DFW、FLL、MCO 位于关键性前列。网络共 30 个节点、824 条有向航线。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FEF7C-B76C-4C12-A181-6F1BE835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334D6-B60A-40C3-8C2E-7DBF6424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572324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D5D324-2FCC-4ACC-929B-2779A73B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90934-C74F-4AE0-B476-F150932B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B9C-DA77-4D9D-830D-CB82D53E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稳定传播矩阵支撑四策略公平比较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2BD4A-2964-4584-8D47-32FD1653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E060E-186C-4F30-9940-C878359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4143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7FE30-C446-43D9-8F40-1575E82C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x(t+1) = A x(t) + B u(t) + G w(t)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04671-DCB7-403B-BAAF-C053C537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7C93A6"/>
                </a:solidFill>
                <a:latin typeface="Microsoft YaHei"/>
                <a:ea typeface="Microsoft YaHei"/>
                <a:cs typeface="Microsoft YaHei"/>
              </a:rPr>
              <a:t>谱半径 0.920；单步 MAE 9.74 分钟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ba00d959b4c35"/>
          <a:stretch xmlns:a="http://schemas.openxmlformats.org/drawingml/2006/main"/>
        </p:blipFill>
        <p:spPr>
          <a:xfrm xmlns:a="http://schemas.openxmlformats.org/drawingml/2006/main">
            <a:off x="5429250" y="1612316"/>
            <a:ext cx="3048000" cy="2680868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c54b9d8c447a6"/>
          <a:stretch xmlns:a="http://schemas.openxmlformats.org/drawingml/2006/main"/>
        </p:blipFill>
        <p:spPr>
          <a:xfrm xmlns:a="http://schemas.openxmlformats.org/drawingml/2006/main">
            <a:off x="8334375" y="2066215"/>
            <a:ext cx="3143250" cy="177307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E7CF4A-9EAC-464B-9AE8-A98027DB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191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同一初始状态、同一冲击、同一预算口径下比较：基准、统一缓冲、关键枢纽优先、动态组合。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27C2A2-4D43-44D8-8DB7-2036E0E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BA440A-7066-4005-B816-50E8ED7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9422415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5EB68D-2FB2-4379-A137-8C3DA909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45D5-D7EF-4E91-8A57-B66436DB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50810-578B-4328-BCC9-395D88AD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Web Demo 将模型链路变成可交互决策流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0A874-B278-4F07-990F-853A1D33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06c075b224893"/>
          <a:stretch xmlns:a="http://schemas.openxmlformats.org/drawingml/2006/main"/>
        </p:blipFill>
        <p:spPr>
          <a:xfrm xmlns:a="http://schemas.openxmlformats.org/drawingml/2006/main">
            <a:off x="685800" y="2099469"/>
            <a:ext cx="4953000" cy="2373313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7ef1feb824695"/>
          <a:stretch xmlns:a="http://schemas.openxmlformats.org/drawingml/2006/main"/>
        </p:blipFill>
        <p:spPr>
          <a:xfrm xmlns:a="http://schemas.openxmlformats.org/drawingml/2006/main">
            <a:off x="6143625" y="2271448"/>
            <a:ext cx="4953000" cy="202935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88776-5301-4721-B733-D8603E9D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固定演示路径：数据规律 → 关键机场 → 天气/枢纽冲击 → 策略切换 → 综合排名与敏感性。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BDCE0-F650-45DC-9E3A-732B6F54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FB590-52E9-43AE-A820-B1C1759F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9942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EBD4AA-0AB3-40E6-BF5F-47BDF78F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DEB74-B76A-4438-B73C-FA6BD062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920AB-F102-4126-871E-4E5ECC5B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动态组合在韧性优先下排名第一，但推荐有边界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B00A3-C679-4B22-B938-4CDDFA69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425b6e7bd4c23"/>
          <a:stretch xmlns:a="http://schemas.openxmlformats.org/drawingml/2006/main"/>
        </p:blipFill>
        <p:spPr>
          <a:xfrm xmlns:a="http://schemas.openxmlformats.org/drawingml/2006/main">
            <a:off x="666750" y="1574948"/>
            <a:ext cx="4572000" cy="2755605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85dea39da40d4"/>
          <a:stretch xmlns:a="http://schemas.openxmlformats.org/drawingml/2006/main"/>
        </p:blipFill>
        <p:spPr>
          <a:xfrm xmlns:a="http://schemas.openxmlformats.org/drawingml/2006/main">
            <a:off x="6191250" y="1612186"/>
            <a:ext cx="4572000" cy="26811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D6A4C-6EBA-42CE-8084-07F8806A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981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主偏好（AHP 0.90）推荐 dynamic_combo；成本极端保守或风险损失期望下 baseline 可能反超。结论应写成有条件建议。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482CC-51B5-4780-B4D8-909E0E00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71D12-F1F5-40B1-B963-DEE8FFE5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999822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609C4D-BF93-4BCB-AC4D-B77BA1F3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F7F9F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FED0E-F788-431C-8A2C-FCCCBF92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FLIGHTRESILIENCE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9BA09-00CF-4689-A41A-33A1BF2A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项目价值在于把系统工程闭环真正落到可运行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F60F8-58FD-4065-ACC6-81980774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71575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6"/>
          </a:solidFill>
          <a:ln xmlns:a="http://schemas.openxmlformats.org/drawingml/2006/main" w="0">
            <a:solidFill>
              <a:srgbClr val="D6DE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50AD3-F63E-4C62-861E-670018E0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37A76-9994-4FF5-B1C0-508E328D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8592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结论一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EF2D0-ABDF-427F-B3D0-E110E508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7640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延误传播是机场网络的动态系统问题。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B7811-60C1-4B61-91BB-BCC4088F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A0A21-1440-444E-9100-50ADB410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669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结论二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1ED7F-3164-4D6A-B3CF-76CE4CDA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5745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预测概率的价值在于进入传播和恢复策略。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54098-01AB-4F56-AD8E-C94B597C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861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A7898-5AE5-46E7-B3C3-CC9B94EC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802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结论三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A637B4-1F9C-4001-893B-CAE53B6B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3850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推荐策略取决于恢复优先还是成本保守。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A20C82-0E75-41A2-B00E-058B1D38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671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100D13-2CBD-47FA-9408-30A64A4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90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创新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482E3-F331-45F4-9FF0-64A2308A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955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公开数据 + 结构模型 + 传播仿真 + 多准则决策 + Web Demo。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4D1C52-D7AF-4CED-AD4D-E397B1F3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AA546B-2BB3-4054-9922-D49385EC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58B3A"/>
                </a:solidFill>
                <a:latin typeface="Microsoft YaHei"/>
                <a:ea typeface="Microsoft YaHei"/>
                <a:cs typeface="Microsoft YaHei"/>
              </a:rPr>
              <a:t>局限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620D7-C689-4D9C-BCB3-DF1082F6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63A5F"/>
                </a:solidFill>
                <a:latin typeface="Microsoft YaHei"/>
                <a:ea typeface="Microsoft YaHei"/>
                <a:cs typeface="Microsoft YaHei"/>
              </a:rPr>
              <a:t>成本与容量参数为相对情景值，不能解释为真实企业成本。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24ABEE-B5A0-42E3-BD6C-77156FDA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数据来源：U.S. DOT BTS TranStats，2024年1-3月；结果为项目仿真与相对情景参数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B3AEF0-5709-4A8C-9576-E3FDE3FA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341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23912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2026-06-26T03:26:42.8690000Z</dcterms:created>
  <dcterms:modified xsi:type="dcterms:W3CDTF">2026-06-26T03:26:42.8690000Z</dcterms:modified>
</coreProperties>
</file>