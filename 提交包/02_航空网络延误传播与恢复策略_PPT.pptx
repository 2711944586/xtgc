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9cc2fe797408a" /><Relationship Type="http://schemas.openxmlformats.org/officeDocument/2006/relationships/extended-properties" Target="/docProps/app.xml" Id="Rcb9cabd9f1e04247" /><Relationship Type="http://schemas.openxmlformats.org/officeDocument/2006/relationships/officeDocument" Target="/ppt/presentation.xml" Id="R2a06c2bd4154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b1d2895b94318"/>
  </p:sldMasterIdLst>
  <p:notesMasterIdLst>
    <p:notesMasterId xmlns:r="http://schemas.openxmlformats.org/officeDocument/2006/relationships" r:id="R07b2570d0dd74138"/>
  </p:notesMasterIdLst>
  <p:sldIdLst>
    <p:sldId xmlns:r="http://schemas.openxmlformats.org/officeDocument/2006/relationships" id="256" r:id="Rbdbd2f89143844e8"/>
    <p:sldId xmlns:r="http://schemas.openxmlformats.org/officeDocument/2006/relationships" id="257" r:id="R4f08b8753e704030"/>
    <p:sldId xmlns:r="http://schemas.openxmlformats.org/officeDocument/2006/relationships" id="258" r:id="R0a348c75b54144fa"/>
    <p:sldId xmlns:r="http://schemas.openxmlformats.org/officeDocument/2006/relationships" id="259" r:id="R72823fbf67f641fb"/>
    <p:sldId xmlns:r="http://schemas.openxmlformats.org/officeDocument/2006/relationships" id="260" r:id="R164690165bff4781"/>
    <p:sldId xmlns:r="http://schemas.openxmlformats.org/officeDocument/2006/relationships" id="261" r:id="R7226e67428c841d1"/>
    <p:sldId xmlns:r="http://schemas.openxmlformats.org/officeDocument/2006/relationships" id="262" r:id="R1cfd2aaf1a254c23"/>
    <p:sldId xmlns:r="http://schemas.openxmlformats.org/officeDocument/2006/relationships" id="263" r:id="R968e2e45a71d48f4"/>
    <p:sldId xmlns:r="http://schemas.openxmlformats.org/officeDocument/2006/relationships" id="264" r:id="R552680347ed441f2"/>
    <p:sldId xmlns:r="http://schemas.openxmlformats.org/officeDocument/2006/relationships" id="265" r:id="R14a08a0dcd6e44ee"/>
    <p:sldId xmlns:r="http://schemas.openxmlformats.org/officeDocument/2006/relationships" id="266" r:id="R27631a5cdb0342f1"/>
    <p:sldId xmlns:r="http://schemas.openxmlformats.org/officeDocument/2006/relationships" id="267" r:id="R897ae0cceb3443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5b04c9e3b4f10" /><Relationship Type="http://schemas.openxmlformats.org/officeDocument/2006/relationships/slideMaster" Target="/ppt/slideMasters/slideMaster1.xml" Id="R33db1d2895b94318" /><Relationship Type="http://schemas.openxmlformats.org/officeDocument/2006/relationships/notesMaster" Target="/ppt/notesMasters/notesMaster1.xml" Id="R07b2570d0dd74138" /><Relationship Type="http://schemas.openxmlformats.org/officeDocument/2006/relationships/presProps" Target="/ppt/presProps.xml" Id="Rc2b5ccb63fdf4341" /><Relationship Type="http://schemas.openxmlformats.org/officeDocument/2006/relationships/viewProps" Target="/ppt/viewProps.xml" Id="Rc688f18536554820" /><Relationship Type="http://schemas.openxmlformats.org/officeDocument/2006/relationships/tableStyles" Target="/ppt/tableStyles.xml" Id="R4455eb5c587943a6" /><Relationship Type="http://schemas.openxmlformats.org/officeDocument/2006/relationships/slide" Target="/ppt/slides/slide1.xml" Id="Rbdbd2f89143844e8" /><Relationship Type="http://schemas.openxmlformats.org/officeDocument/2006/relationships/slide" Target="/ppt/slides/slide2.xml" Id="R4f08b8753e704030" /><Relationship Type="http://schemas.openxmlformats.org/officeDocument/2006/relationships/slide" Target="/ppt/slides/slide3.xml" Id="R0a348c75b54144fa" /><Relationship Type="http://schemas.openxmlformats.org/officeDocument/2006/relationships/slide" Target="/ppt/slides/slide4.xml" Id="R72823fbf67f641fb" /><Relationship Type="http://schemas.openxmlformats.org/officeDocument/2006/relationships/slide" Target="/ppt/slides/slide5.xml" Id="R164690165bff4781" /><Relationship Type="http://schemas.openxmlformats.org/officeDocument/2006/relationships/slide" Target="/ppt/slides/slide6.xml" Id="R7226e67428c841d1" /><Relationship Type="http://schemas.openxmlformats.org/officeDocument/2006/relationships/slide" Target="/ppt/slides/slide7.xml" Id="R1cfd2aaf1a254c23" /><Relationship Type="http://schemas.openxmlformats.org/officeDocument/2006/relationships/slide" Target="/ppt/slides/slide8.xml" Id="R968e2e45a71d48f4" /><Relationship Type="http://schemas.openxmlformats.org/officeDocument/2006/relationships/slide" Target="/ppt/slides/slide9.xml" Id="R552680347ed441f2" /><Relationship Type="http://schemas.openxmlformats.org/officeDocument/2006/relationships/slide" Target="/ppt/slides/slide10.xml" Id="R14a08a0dcd6e44ee" /><Relationship Type="http://schemas.openxmlformats.org/officeDocument/2006/relationships/slide" Target="/ppt/slides/slide11.xml" Id="R27631a5cdb0342f1" /><Relationship Type="http://schemas.openxmlformats.org/officeDocument/2006/relationships/slide" Target="/ppt/slides/slide12.xml" Id="R897ae0cceb3443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90be37acfe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fd3a7f75d455a" /><Relationship Type="http://schemas.openxmlformats.org/officeDocument/2006/relationships/notesMaster" Target="/ppt/notesMasters/notesMaster1.xml" Id="Rdf1404b2c5b3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3890a9e8d543e2" /><Relationship Type="http://schemas.openxmlformats.org/officeDocument/2006/relationships/notesMaster" Target="/ppt/notesMasters/notesMaster1.xml" Id="R68c1ef04008849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dff412ac04166" /><Relationship Type="http://schemas.openxmlformats.org/officeDocument/2006/relationships/notesMaster" Target="/ppt/notesMasters/notesMaster1.xml" Id="Rc26e170d56ac44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d5c99f1c14073" /><Relationship Type="http://schemas.openxmlformats.org/officeDocument/2006/relationships/notesMaster" Target="/ppt/notesMasters/notesMaster1.xml" Id="R5cb4326412cf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bee40b97d14da9" /><Relationship Type="http://schemas.openxmlformats.org/officeDocument/2006/relationships/notesMaster" Target="/ppt/notesMasters/notesMaster1.xml" Id="Rebe70e7e26934a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80a7e06bd14053" /><Relationship Type="http://schemas.openxmlformats.org/officeDocument/2006/relationships/notesMaster" Target="/ppt/notesMasters/notesMaster1.xml" Id="R905400a81ec6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26fb621ad14ec2" /><Relationship Type="http://schemas.openxmlformats.org/officeDocument/2006/relationships/notesMaster" Target="/ppt/notesMasters/notesMaster1.xml" Id="Rac7460d495c24c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dae3b2ce384e79" /><Relationship Type="http://schemas.openxmlformats.org/officeDocument/2006/relationships/notesMaster" Target="/ppt/notesMasters/notesMaster1.xml" Id="R5d74a051470c41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2c9a1b9b8b47c0" /><Relationship Type="http://schemas.openxmlformats.org/officeDocument/2006/relationships/notesMaster" Target="/ppt/notesMasters/notesMaster1.xml" Id="Rbe3d4c7e3cc84c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f6bda818084a81" /><Relationship Type="http://schemas.openxmlformats.org/officeDocument/2006/relationships/notesMaster" Target="/ppt/notesMasters/notesMaster1.xml" Id="R9f4da62d4a124e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3823dc43a9466a" /><Relationship Type="http://schemas.openxmlformats.org/officeDocument/2006/relationships/notesMaster" Target="/ppt/notesMasters/notesMaster1.xml" Id="R2f280b05040047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ac940fdfdf4854" /><Relationship Type="http://schemas.openxmlformats.org/officeDocument/2006/relationships/notesMaster" Target="/ppt/notesMasters/notesMaster1.xml" Id="Rb40c2a0e3bd146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7644d5b3a40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8f0896ebea47f9" /><Relationship Type="http://schemas.openxmlformats.org/officeDocument/2006/relationships/slideLayout" Target="/ppt/slideLayouts/slideLayout1.xml" Id="Rae591043d9c4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91043d9c4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4e19f559240b4" /><Relationship Type="http://schemas.openxmlformats.org/officeDocument/2006/relationships/image" Target="/ppt/media/image.png" Id="Rec4099943c954b46" /><Relationship Type="http://schemas.openxmlformats.org/officeDocument/2006/relationships/notesSlide" Target="/ppt/notesSlides/notesSlide1.xml" Id="Rdaecc278099a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a57c73e09451a" /><Relationship Type="http://schemas.openxmlformats.org/officeDocument/2006/relationships/notesSlide" Target="/ppt/notesSlides/notesSlide2.xml" Id="R05dd3691f9014d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92eef0e24692" /><Relationship Type="http://schemas.openxmlformats.org/officeDocument/2006/relationships/notesSlide" Target="/ppt/notesSlides/notesSlide3.xml" Id="R67a7f1bde01049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7944f03654f78" /><Relationship Type="http://schemas.openxmlformats.org/officeDocument/2006/relationships/notesSlide" Target="/ppt/notesSlides/notesSlide4.xml" Id="R9e93cca0b6354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df305df6542a0" /><Relationship Type="http://schemas.openxmlformats.org/officeDocument/2006/relationships/image" Target="/ppt/media/image2.png" Id="R49112b29261846a7" /><Relationship Type="http://schemas.openxmlformats.org/officeDocument/2006/relationships/image" Target="/ppt/media/image3.png" Id="R46f3043a7bbc4e11" /><Relationship Type="http://schemas.openxmlformats.org/officeDocument/2006/relationships/image" Target="/ppt/media/image4.png" Id="Re5318dcaaab64951" /><Relationship Type="http://schemas.openxmlformats.org/officeDocument/2006/relationships/notesSlide" Target="/ppt/notesSlides/notesSlide5.xml" Id="R2c7c449f2e6c42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e3e78ef7e45de" /><Relationship Type="http://schemas.openxmlformats.org/officeDocument/2006/relationships/image" Target="/ppt/media/image5.png" Id="R0e26f2880b7345bb" /><Relationship Type="http://schemas.openxmlformats.org/officeDocument/2006/relationships/image" Target="/ppt/media/image6.png" Id="Rf3fe6ac0516e417f" /><Relationship Type="http://schemas.openxmlformats.org/officeDocument/2006/relationships/notesSlide" Target="/ppt/notesSlides/notesSlide6.xml" Id="R57ba28b68fa745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148e97bf64a53" /><Relationship Type="http://schemas.openxmlformats.org/officeDocument/2006/relationships/image" Target="/ppt/media/image7.png" Id="Rfe041fee5dc04ea3" /><Relationship Type="http://schemas.openxmlformats.org/officeDocument/2006/relationships/image" Target="/ppt/media/image8.png" Id="R29e5749c4cce44fd" /><Relationship Type="http://schemas.openxmlformats.org/officeDocument/2006/relationships/notesSlide" Target="/ppt/notesSlides/notesSlide7.xml" Id="Rb41f98d996c84d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5240ff3634695" /><Relationship Type="http://schemas.openxmlformats.org/officeDocument/2006/relationships/image" Target="/ppt/media/image9.png" Id="R2a01df70bed64147" /><Relationship Type="http://schemas.openxmlformats.org/officeDocument/2006/relationships/image" Target="/ppt/media/image10.png" Id="Rc526acfbccea417c" /><Relationship Type="http://schemas.openxmlformats.org/officeDocument/2006/relationships/notesSlide" Target="/ppt/notesSlides/notesSlide8.xml" Id="R08bd14b13b214f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728e3d46c4edc" /><Relationship Type="http://schemas.openxmlformats.org/officeDocument/2006/relationships/image" Target="/ppt/media/image11.png" Id="R6f82a529c4f84c45" /><Relationship Type="http://schemas.openxmlformats.org/officeDocument/2006/relationships/image" Target="/ppt/media/image12.png" Id="R071686a0bf8e4a56" /><Relationship Type="http://schemas.openxmlformats.org/officeDocument/2006/relationships/notesSlide" Target="/ppt/notesSlides/notesSlide9.xml" Id="Rc21a7325bb3d41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ecf79abad4c01" /><Relationship Type="http://schemas.openxmlformats.org/officeDocument/2006/relationships/image" Target="/ppt/media/image13.png" Id="R1a96ba1a08ae4188" /><Relationship Type="http://schemas.openxmlformats.org/officeDocument/2006/relationships/image" Target="/ppt/media/image14.png" Id="Rdf7f06bce22042f0" /><Relationship Type="http://schemas.openxmlformats.org/officeDocument/2006/relationships/notesSlide" Target="/ppt/notesSlides/notesSlide10.xml" Id="R6702b819ab9b4f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9c886d62417f" /><Relationship Type="http://schemas.openxmlformats.org/officeDocument/2006/relationships/image" Target="/ppt/media/image15.png" Id="R3d5030b0c7f543ff" /><Relationship Type="http://schemas.openxmlformats.org/officeDocument/2006/relationships/image" Target="/ppt/media/image16.png" Id="R1304e87237be45cf" /><Relationship Type="http://schemas.openxmlformats.org/officeDocument/2006/relationships/notesSlide" Target="/ppt/notesSlides/notesSlide11.xml" Id="Rb5051cea8b9a48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927828c354701" /><Relationship Type="http://schemas.openxmlformats.org/officeDocument/2006/relationships/notesSlide" Target="/ppt/notesSlides/notesSlide12.xml" Id="R572a11d864634e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DFD675-BD94-4D70-A01A-4ADF6F6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9B557-0883-4975-8CA8-11DAC90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95970-2A1D-4F15-9CD1-B04DF04E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一个枢纽机场的延误，可能在数小时内扩散为全网问题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530C8-BDAE-484D-ABB3-F0C8FFF6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099943c954b46"/>
          <a:stretch xmlns:a="http://schemas.openxmlformats.org/drawingml/2006/main"/>
        </p:blipFill>
        <p:spPr>
          <a:xfrm xmlns:a="http://schemas.openxmlformats.org/drawingml/2006/main">
            <a:off x="6191250" y="1405015"/>
            <a:ext cx="4953000" cy="36860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9B3C4-8332-497A-9B32-B5112A69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面向突发扰动的航空网络延误传播识别与恢复策略决策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A9538-6DAC-4950-B837-A27EB788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从 BTS 真实数据出发，把延误预测、机场网络、动态仿真和恢复策略评价连成系统工程闭环。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3B27-3065-4D8E-BBF4-25A2E0F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4C4A5-38A1-49D9-AAB0-BAC9EB1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公开数据 → 风险识别 → 网络传播 → 策略恢复 → 综合决策 → Web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48720-6DEA-4EFA-9F12-5E04E21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4BAC8-D2B7-4F94-BDE6-EBA6795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48159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B344B-8BDB-4246-8B0D-0944D351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72A18-5C1F-4166-B166-0B57D48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6AD48-A455-4B5B-A0C3-3B4C452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单航班预测不能回答恢复决策问题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69497-23FD-4D8C-AF9A-CC2AAD6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CECBD-22D9-48DF-8A27-C33ABBF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7EAA-0254-49B1-81D4-56BD018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6DA67-D9B0-4F7C-9130-57CF7C35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rPr>
              <a:t>传统视角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56203-163F-497D-8E4D-1F922FF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判断某一航班是否延误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输出：概率或标签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局限：无法说明延误会传到哪里，也无法分配恢复资源。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A1D6E-00B5-4863-98EF-558CBF9D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90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本项目视角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A5C8-F676-4D55-BE21-1E465EC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90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识别网络传播与恢复策略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输出：关键机场、传播轨迹、策略排名和适用边界。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DC343-104B-4A78-83BB-BC8A07B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核心问题：传播路径、优先节点、有限预算下的恢复方案，以及不同偏好下推荐是否稳定。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36518-EB39-4097-8D40-23389C56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7F29F-1D1E-427E-895B-B1992DA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69759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66762-8CE3-4E41-83C0-A3E803AF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52A0-891D-4157-8FD4-95EA881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FB4F-8EB8-462F-80DD-212759A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系统边界把多主体目标冲突显性化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DDD35-C6EC-461A-A382-CED0AFF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F76C2-A23A-43A9-9F97-D4D2FC28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363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BFE9-2D05-4845-AE47-B65FBE4C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外部扰动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D4DB8-6443-4C2C-88DF-534BC274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空域限制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高峰需求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枢纽容量下降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229B3-BE3C-46A6-8CAA-BA13589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851BE-7990-4F40-A978-F2E1A0F6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航空网络运行系统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E2EAB-65BF-4E29-A5FE-94B0B0A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机场 - 航线 - 航班 - 航司 - 恢复资源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FC435-E5A5-45B8-BAD7-85A4692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FF052-ABCC-4138-96E8-1192070C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管理输出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61C20-D801-4EDB-9465-966A8B46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延误水平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恢复时间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传播范围</a:t>
            </a:r>
          </a:p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资源成本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2A0B7-EA9B-4060-BB80-40B24F0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70F60-AC06-44D2-BE4B-54A402A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9974E-C784-433E-A9F5-BD9DC85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累计延误 / 平均延误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097B3-4AD4-49C9-89FF-E44EEA65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52900-AEC3-4D31-A073-0EF80FB5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rPr>
              <a:t>网络韧性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684AB-285D-470D-9939-1D41E864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最低性能 / 恢复时间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8CCE2-B491-459F-BB63-68FB45A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24250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28AE7-7048-43A9-9AD6-04B091B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5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航班影响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F9447-5112-4E58-A1E5-E02F789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延误航班比例 / 取消代理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49CE4-E9C0-460B-951B-79DB658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2B2F3-FD98-4997-ABA3-07CD4D3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95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经济性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C2861-1ADD-4097-93C6-16F3E7D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相对成本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047BF-39A9-4C5C-B6D9-6C67895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88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977F4-1B84-4D3C-968F-1F30D9A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可实施性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1C967-4D83-402E-BD2D-4EF1249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复杂度 / 参数透明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8F28B-D81D-4937-9D1B-6B8B8E0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D0092-565B-4466-A5A5-A7D9936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利益相关者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8792E-BBF6-4F2F-8D4F-46C7A46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乘客希望少延误，航司关注成本和轮转，机场关注容量恢复，监管者关注安全与公平。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F6BE9-3FDB-4EB9-BE6D-801E240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本项目将决策主体抽象为机场-航空公司联合运行控制中心，用统一情景和预算口径比较策略。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F078A-F5AA-4845-B985-723C7500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3161FF-3F2D-4B05-94FB-3AF9685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15090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866EB-E5D2-4C13-A58F-762B865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0404B-C9D6-4B56-9D27-55B00F9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80FAF-BCC2-4B3F-8AC3-35C9613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霍尔主线与切克兰德补充共同组织方法链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F4947-D7CE-490F-B5EF-D577B17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20245-1656-47DF-BD2C-95F138D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C33F8-7CE7-48E9-A8D5-26A3DA2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明确问题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C60CC-7665-44A6-945F-6FEB958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6DA17-902D-4DBA-8C89-009F739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39314-A398-4E4D-9FFE-A1BC04F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9E239-7CD0-46BC-B10C-23FBD6F2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E4DD6-3435-4E3F-9A21-5F8962D9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46BE1-6FEA-48F0-83A2-EEE0921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方案综合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30350-EBE7-4710-9FAA-309BB12A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4FAFC-F4DE-417B-85AA-D80E300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C0FA6-D21E-41D6-B471-740A66A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EA8"/>
                </a:solidFill>
                <a:latin typeface="Microsoft YaHei"/>
                <a:ea typeface="Microsoft YaHei"/>
                <a:cs typeface="Microsoft YaHei"/>
              </a:rPr>
              <a:t>建立模型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6DC91-2B8E-4205-BF80-9CE34384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A6708-375A-4E85-8B56-940FF08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D5C2D-A00F-42BB-BA63-05B8064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方案优化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386AC-6A28-4D1B-8E22-315ACA64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9F21E-DD74-468C-875A-B68840B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CF47C-4F2E-4A68-A2A7-4751EFB2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评价决策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253B1-CAC2-44F0-BA8F-DB6A5477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0">
            <a:solidFill>
              <a:srgbClr val="E58B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2092D-B73F-429E-9442-14C45979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09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B5E7C-C714-4868-ACFE-302F4A79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57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实施反馈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03A4A-16D3-44D6-B198-32E96DC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结构模型：鱼骨图 + ISM；数据模型：延误预测 + SHAP；网络模型：中心性 + 关键性指数；动态模型：状态空间传播；评价决策：AHP、熵权、TOPSIS、模糊评价和风险决策。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E8139-A6F6-4EA2-B5EC-6B77F55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切克兰德软系统思想用于处理“最低成本”“最快恢复”“公平可实施”等价值冲突，避免宣称唯一绝对最优。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A8463-A7C2-4EC3-9772-783099D7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28180-D623-41CC-A1FC-C67CCBC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70577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5219E-A25A-4FBE-B34A-6EC0C7D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4BB89-05AE-4024-A5FA-AB92ECA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72B09-AB57-4694-98BD-AC39E79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BTS 数据显示延误具有时间异质性与节点差异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BB07-810F-4F39-B8B0-D25D8FD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2b29261846a7"/>
          <a:stretch xmlns:a="http://schemas.openxmlformats.org/drawingml/2006/main"/>
        </p:blipFill>
        <p:spPr>
          <a:xfrm xmlns:a="http://schemas.openxmlformats.org/drawingml/2006/main">
            <a:off x="552450" y="1977102"/>
            <a:ext cx="3476625" cy="165602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3043a7bbc4e11"/>
          <a:stretch xmlns:a="http://schemas.openxmlformats.org/drawingml/2006/main"/>
        </p:blipFill>
        <p:spPr>
          <a:xfrm xmlns:a="http://schemas.openxmlformats.org/drawingml/2006/main">
            <a:off x="4343400" y="1797531"/>
            <a:ext cx="3333750" cy="2015164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18dcaaab64951"/>
          <a:stretch xmlns:a="http://schemas.openxmlformats.org/drawingml/2006/main"/>
        </p:blipFill>
        <p:spPr>
          <a:xfrm xmlns:a="http://schemas.openxmlformats.org/drawingml/2006/main">
            <a:off x="8001000" y="1624462"/>
            <a:ext cx="3429000" cy="236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7226-742E-4840-AA2E-8C61E559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样本：2024年1-3月，前15个机场，224,755条记录。航班量高不等于延误率最高，恢复决策需要结合网络位置和运行状态。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92AA0-95A4-4974-B909-D393E13A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FE77B-4216-44F5-B000-B839146D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3425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8625C-4925-4048-A747-35E3C209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76A49-1CC1-4B9A-A6D0-9C684D1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C340A-2865-487D-909C-2ABA4BB0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根源因素通过拥堵和前序晚到传导到网络恢复问题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5CC03-9C1B-44DA-AA00-932E6C5E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6f2880b7345bb"/>
          <a:stretch xmlns:a="http://schemas.openxmlformats.org/drawingml/2006/main"/>
        </p:blipFill>
        <p:spPr>
          <a:xfrm xmlns:a="http://schemas.openxmlformats.org/drawingml/2006/main">
            <a:off x="666750" y="1711330"/>
            <a:ext cx="5810250" cy="3549639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e6ac0516e417f"/>
          <a:stretch xmlns:a="http://schemas.openxmlformats.org/drawingml/2006/main"/>
        </p:blipFill>
        <p:spPr>
          <a:xfrm xmlns:a="http://schemas.openxmlformats.org/drawingml/2006/main">
            <a:off x="7234970" y="1619250"/>
            <a:ext cx="3341809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C2D15-6C0E-42EE-BA55-5927033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054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ISM 表达结构性解释框架，不把滞后关系和小组判断表述为严格因果。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E725-2735-4C42-95CC-2C4F87BD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3AC65-847B-405A-9FA5-0E07C191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6104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0762E4-F915-4E30-8B83-264032D2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15B7-D643-4E24-BD8B-06360B81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236E0-AE4B-462B-92DE-EA1336A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计划阶段模型为传播仿真提供风险输入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86982-D58C-4367-BD5F-58E4F25F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41fee5dc04ea3"/>
          <a:stretch xmlns:a="http://schemas.openxmlformats.org/drawingml/2006/main"/>
        </p:blipFill>
        <p:spPr>
          <a:xfrm xmlns:a="http://schemas.openxmlformats.org/drawingml/2006/main">
            <a:off x="666750" y="1597042"/>
            <a:ext cx="4762500" cy="2616166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749c4cce44fd"/>
          <a:stretch xmlns:a="http://schemas.openxmlformats.org/drawingml/2006/main"/>
        </p:blipFill>
        <p:spPr>
          <a:xfrm xmlns:a="http://schemas.openxmlformats.org/drawingml/2006/main">
            <a:off x="6198721" y="1428750"/>
            <a:ext cx="4747559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A5832-D8A1-4F87-9DCA-CF815B8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最佳模型：随机森林；测试 ROC-AUC 0.674，PR-AUC 0.382。禁用实际起降、实际延误和原因分解字段，降低泄漏风险。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86E2E-CE91-4692-A540-AAC903A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1BF0-102A-4D92-B10C-C224A14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566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395B1-2552-4CF3-AF8A-3F7B0BAA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F6979-3517-4C70-8B0C-396FE50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30ED1-6C65-469C-9AD4-7948BD4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关键传播节点不是按航班量简单排序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222B8-E429-4911-93E4-A4E0F16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1df70bed64147"/>
          <a:stretch xmlns:a="http://schemas.openxmlformats.org/drawingml/2006/main"/>
        </p:blipFill>
        <p:spPr>
          <a:xfrm xmlns:a="http://schemas.openxmlformats.org/drawingml/2006/main">
            <a:off x="523875" y="1515105"/>
            <a:ext cx="5143500" cy="382779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6acfbccea417c"/>
          <a:stretch xmlns:a="http://schemas.openxmlformats.org/drawingml/2006/main"/>
        </p:blipFill>
        <p:spPr>
          <a:xfrm xmlns:a="http://schemas.openxmlformats.org/drawingml/2006/main">
            <a:off x="6191250" y="1574247"/>
            <a:ext cx="4572000" cy="28522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BDA16-BECA-4A6F-857B-FA2CF62A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综合流量、介数中心性、预测风险与历史延误率后，DEN、DFW、LAX、MCO、LAS 排名靠前。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7F1C9-735B-44D3-8E63-426F7E0D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0C9DA-CD83-4D8E-87E5-8B608FEA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40200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79C53-D0D1-411B-803D-8DE47449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4E7EC-DF8F-4D03-8E02-F51B973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E5103-1530-475D-A9EF-4173BE84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稳定传播矩阵支撑四策略公平比较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AE815-BE5F-4006-86AC-42F5C6D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B92F-CFF5-4E66-B821-FE95555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143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2B43D-6D65-42F1-9A64-53E7DBC6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x(t+1) = A x(t) + B u(t) + G w(t)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D5A4D-EA5F-460D-B110-CC368354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C93A6"/>
                </a:solidFill>
                <a:latin typeface="Microsoft YaHei"/>
                <a:ea typeface="Microsoft YaHei"/>
                <a:cs typeface="Microsoft YaHei"/>
              </a:rPr>
              <a:t>谱半径 0.820；单步 MAE 11.63 分钟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2a529c4f84c45"/>
          <a:stretch xmlns:a="http://schemas.openxmlformats.org/drawingml/2006/main"/>
        </p:blipFill>
        <p:spPr>
          <a:xfrm xmlns:a="http://schemas.openxmlformats.org/drawingml/2006/main">
            <a:off x="5429250" y="1613447"/>
            <a:ext cx="3048000" cy="2678607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686a0bf8e4a56"/>
          <a:stretch xmlns:a="http://schemas.openxmlformats.org/drawingml/2006/main"/>
        </p:blipFill>
        <p:spPr>
          <a:xfrm xmlns:a="http://schemas.openxmlformats.org/drawingml/2006/main">
            <a:off x="8334375" y="2067083"/>
            <a:ext cx="3143250" cy="177133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A28EC-7A93-44A6-8FB8-4164ED6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同一初始状态、同一冲击、同一预算口径下比较：基准、统一缓冲、关键枢纽优先、动态组合。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C955-940B-4035-81B5-3D722A1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8F9A-26AD-4DAD-ACAA-4E12686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13373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E8C17-2F1E-43E5-A0D6-85E206A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1556E-83BA-4F2F-ABC8-1ABFA08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32F34-21A4-4268-B855-11A5B757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Web Demo 将模型链路变成可交互决策流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B749D-6ABB-4316-9A1C-78985DD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6ba1a08ae4188"/>
          <a:stretch xmlns:a="http://schemas.openxmlformats.org/drawingml/2006/main"/>
        </p:blipFill>
        <p:spPr>
          <a:xfrm xmlns:a="http://schemas.openxmlformats.org/drawingml/2006/main">
            <a:off x="685800" y="2099469"/>
            <a:ext cx="4953000" cy="2373313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f06bce22042f0"/>
          <a:stretch xmlns:a="http://schemas.openxmlformats.org/drawingml/2006/main"/>
        </p:blipFill>
        <p:spPr>
          <a:xfrm xmlns:a="http://schemas.openxmlformats.org/drawingml/2006/main">
            <a:off x="6143625" y="2271448"/>
            <a:ext cx="4953000" cy="20293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DFF6F-AC44-4CEA-8147-91FC464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固定演示路径：数据规律 → 关键机场 → 天气/枢纽冲击 → 策略切换 → 综合排名与敏感性。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623DE-B045-4C1C-ADC1-7FB62A5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B3620-F44A-4166-A555-3FD21503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62955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DCF87-95AB-47E0-9693-15B3A72A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E4FC6-585D-4016-9AF7-246CB3E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8374B-3570-43EC-BE7B-DD73ED0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动态组合在韧性优先下排名第一，但推荐有边界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A6850-4F35-44E0-A369-8DA64B1C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030b0c7f543ff"/>
          <a:stretch xmlns:a="http://schemas.openxmlformats.org/drawingml/2006/main"/>
        </p:blipFill>
        <p:spPr>
          <a:xfrm xmlns:a="http://schemas.openxmlformats.org/drawingml/2006/main">
            <a:off x="666750" y="1575535"/>
            <a:ext cx="4572000" cy="2754431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4e87237be45cf"/>
          <a:stretch xmlns:a="http://schemas.openxmlformats.org/drawingml/2006/main"/>
        </p:blipFill>
        <p:spPr>
          <a:xfrm xmlns:a="http://schemas.openxmlformats.org/drawingml/2006/main">
            <a:off x="6191250" y="1613622"/>
            <a:ext cx="4572000" cy="2678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938A1-E5C0-432A-854B-AE12CD69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主偏好（AHP 0.90）推荐 dynamic_combo；成本极端保守或风险损失期望下 baseline 可能反超。结论应写成有条件建议。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B5EC8-B254-479A-B317-5519EF33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39D1E-8303-41EA-9416-8823316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6127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36701-426C-4243-A37F-FE78224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5F47D-D355-4B0D-A0AC-614B9B0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FLIGHTRESILIENCE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8AFA7-D7AB-4EB6-83FE-6FC0352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项目价值在于把系统工程闭环真正落到可运行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5BB5A-702D-4A90-B9B8-43B1A79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6673D-298B-46C9-B9C3-55ADBEB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91887-820B-4BF5-BAD4-6DF1AC6F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85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结论一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A2E1-3C4A-4109-9687-85D5EC60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延误传播是机场网络的动态系统问题。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26993-6FC5-4143-812A-FB87098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8D8C9-E850-4297-ACF2-AFFBD270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结论二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3B491-97AF-4D71-A865-F3617623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预测概率的价值在于进入传播和恢复策略。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0E9BA-2532-4D7E-8C36-875617C7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8FA01-1FF0-4F4B-B67A-1B4BD875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结论三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A6649-2BB1-474A-986C-5FC076C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推荐策略取决于恢复优先还是成本保守。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C92B7-8693-4E3A-9622-B915B09D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B9CA0-7E48-4E2A-B97F-E6FDAA6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创新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4844B-67DB-4F6E-A598-9EA2BE67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95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公开数据 + 结构模型 + 传播仿真 + 多准则决策 + Web Demo。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9026C-2C0A-4A27-8603-BB839DC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8B697-F3D5-4348-8975-9DC7BA4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8B3A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0BDA1-FA8F-44A7-AD3A-64DE6A5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A5F"/>
                </a:solidFill>
                <a:latin typeface="Microsoft YaHei"/>
                <a:ea typeface="Microsoft YaHei"/>
                <a:cs typeface="Microsoft YaHei"/>
              </a:rPr>
              <a:t>成本与容量参数为相对情景值，不能解释为真实企业成本。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7EFF7-1533-4675-B5C5-00C5D140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数据来源：U.S. DOT BTS TranStats，2024年1-3月；结果为项目仿真与相对情景参数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37081-7F5B-4090-B56A-02B6A03D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2628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2026-06-24T11:09:02.4200000Z</dcterms:created>
  <dcterms:modified xsi:type="dcterms:W3CDTF">2026-06-24T11:09:02.4200000Z</dcterms:modified>
</coreProperties>
</file>